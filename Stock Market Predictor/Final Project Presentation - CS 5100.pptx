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BM Plex Serif"/>
      <p:regular r:id="rId14"/>
      <p:bold r:id="rId15"/>
      <p:italic r:id="rId16"/>
      <p:boldItalic r:id="rId17"/>
    </p:embeddedFont>
    <p:embeddedFont>
      <p:font typeface="Archivo Medium"/>
      <p:regular r:id="rId18"/>
      <p:bold r:id="rId19"/>
      <p:italic r:id="rId20"/>
      <p:boldItalic r:id="rId21"/>
    </p:embeddedFont>
    <p:embeddedFont>
      <p:font typeface="IBM Plex Serif Medium"/>
      <p:regular r:id="rId22"/>
      <p:bold r:id="rId23"/>
      <p:italic r:id="rId24"/>
      <p:boldItalic r:id="rId25"/>
    </p:embeddedFont>
    <p:embeddedFont>
      <p:font typeface="Archivo"/>
      <p:regular r:id="rId26"/>
      <p:bold r:id="rId27"/>
      <p:italic r:id="rId28"/>
      <p:boldItalic r:id="rId29"/>
    </p:embeddedFont>
    <p:embeddedFont>
      <p:font typeface="Archivo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Medium-italic.fntdata"/><Relationship Id="rId22" Type="http://schemas.openxmlformats.org/officeDocument/2006/relationships/font" Target="fonts/IBMPlexSerifMedium-regular.fntdata"/><Relationship Id="rId21" Type="http://schemas.openxmlformats.org/officeDocument/2006/relationships/font" Target="fonts/ArchivoMedium-boldItalic.fntdata"/><Relationship Id="rId24" Type="http://schemas.openxmlformats.org/officeDocument/2006/relationships/font" Target="fonts/IBMPlexSerifMedium-italic.fntdata"/><Relationship Id="rId23" Type="http://schemas.openxmlformats.org/officeDocument/2006/relationships/font" Target="fonts/IBMPlexSerif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chivo-regular.fntdata"/><Relationship Id="rId25" Type="http://schemas.openxmlformats.org/officeDocument/2006/relationships/font" Target="fonts/IBMPlexSerifMedium-boldItalic.fntdata"/><Relationship Id="rId28" Type="http://schemas.openxmlformats.org/officeDocument/2006/relationships/font" Target="fonts/Archivo-italic.fntdata"/><Relationship Id="rId27" Type="http://schemas.openxmlformats.org/officeDocument/2006/relationships/font" Target="fonts/Archiv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chiv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chivoSemiBold-bold.fntdata"/><Relationship Id="rId30" Type="http://schemas.openxmlformats.org/officeDocument/2006/relationships/font" Target="fonts/Archivo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Archivo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Archivo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BMPlexSerif-bold.fntdata"/><Relationship Id="rId14" Type="http://schemas.openxmlformats.org/officeDocument/2006/relationships/font" Target="fonts/IBMPlexSerif-regular.fntdata"/><Relationship Id="rId17" Type="http://schemas.openxmlformats.org/officeDocument/2006/relationships/font" Target="fonts/IBMPlexSerif-boldItalic.fntdata"/><Relationship Id="rId16" Type="http://schemas.openxmlformats.org/officeDocument/2006/relationships/font" Target="fonts/IBMPlexSerif-italic.fntdata"/><Relationship Id="rId19" Type="http://schemas.openxmlformats.org/officeDocument/2006/relationships/font" Target="fonts/ArchivoMedium-bold.fntdata"/><Relationship Id="rId18" Type="http://schemas.openxmlformats.org/officeDocument/2006/relationships/font" Target="fonts/Archiv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1b4c360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71b4c360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Inna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1b4c3606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71b4c3606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71b4c3606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71b4c3606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Sindu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1b4c3606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71b4c3606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Sindu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what each column data means. </a:t>
            </a:r>
            <a:br>
              <a:rPr lang="en"/>
            </a:br>
            <a:r>
              <a:rPr lang="en" sz="1200">
                <a:solidFill>
                  <a:schemeClr val="dk1"/>
                </a:solidFill>
              </a:rPr>
              <a:t>Date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Open: Price in USD of the stock at market open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High: Highest price of the stock on the given date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Low Close: Lowest price of the stock on the given date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Volume: Number of shares that were traded of the stock on the given date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	Name: Ticker identifier of the stock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1b4c3606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71b4c3606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4525f6730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4525f6730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Jaime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1b4c36060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1b4c36060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236850" y="2068225"/>
            <a:ext cx="8661300" cy="2851800"/>
          </a:xfrm>
          <a:prstGeom prst="roundRect">
            <a:avLst>
              <a:gd fmla="val 7221" name="adj"/>
            </a:avLst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390550" y="513788"/>
            <a:ext cx="8372700" cy="9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90550" y="1430263"/>
            <a:ext cx="8372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7" name="Google Shape;57;p14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390550" y="575525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5970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2" type="subTitle"/>
          </p:nvPr>
        </p:nvSpPr>
        <p:spPr>
          <a:xfrm>
            <a:off x="25845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subTitle"/>
          </p:nvPr>
        </p:nvSpPr>
        <p:spPr>
          <a:xfrm>
            <a:off x="45720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4" type="subTitle"/>
          </p:nvPr>
        </p:nvSpPr>
        <p:spPr>
          <a:xfrm>
            <a:off x="65595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5" type="body"/>
          </p:nvPr>
        </p:nvSpPr>
        <p:spPr>
          <a:xfrm>
            <a:off x="5970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6" type="body"/>
          </p:nvPr>
        </p:nvSpPr>
        <p:spPr>
          <a:xfrm>
            <a:off x="25845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7" type="body"/>
          </p:nvPr>
        </p:nvSpPr>
        <p:spPr>
          <a:xfrm>
            <a:off x="45720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8" type="body"/>
          </p:nvPr>
        </p:nvSpPr>
        <p:spPr>
          <a:xfrm>
            <a:off x="65595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cxnSp>
        <p:nvCxnSpPr>
          <p:cNvPr id="70" name="Google Shape;70;p15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5"/>
          <p:cNvSpPr txBox="1"/>
          <p:nvPr>
            <p:ph idx="9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Structure" type="tx">
  <p:cSld name="TITLE_AND_BODY">
    <p:bg>
      <p:bgPr>
        <a:solidFill>
          <a:schemeClr val="dk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887950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2831750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4775713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5" type="pic"/>
          </p:nvPr>
        </p:nvSpPr>
        <p:spPr>
          <a:xfrm>
            <a:off x="6719663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390550" y="575525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390550" y="1430263"/>
            <a:ext cx="8372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887950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7" type="subTitle"/>
          </p:nvPr>
        </p:nvSpPr>
        <p:spPr>
          <a:xfrm>
            <a:off x="2831828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8" type="subTitle"/>
          </p:nvPr>
        </p:nvSpPr>
        <p:spPr>
          <a:xfrm>
            <a:off x="4775719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9" type="subTitle"/>
          </p:nvPr>
        </p:nvSpPr>
        <p:spPr>
          <a:xfrm>
            <a:off x="6719622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cxnSp>
        <p:nvCxnSpPr>
          <p:cNvPr id="83" name="Google Shape;83;p16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dership" type="twoColTx">
  <p:cSld name="TITLE_AND_TWO_COLUMNS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1629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87" name="Google Shape;87;p17"/>
          <p:cNvSpPr/>
          <p:nvPr>
            <p:ph idx="2" type="pic"/>
          </p:nvPr>
        </p:nvSpPr>
        <p:spPr>
          <a:xfrm>
            <a:off x="996550" y="874499"/>
            <a:ext cx="2244600" cy="3330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4643075" y="1724013"/>
            <a:ext cx="3911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3" type="subTitle"/>
          </p:nvPr>
        </p:nvSpPr>
        <p:spPr>
          <a:xfrm>
            <a:off x="5622325" y="3180388"/>
            <a:ext cx="19770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s" type="titleOnly">
  <p:cSld name="TITLE_ONLY"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90550" y="1892825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" type="subTitle"/>
          </p:nvPr>
        </p:nvSpPr>
        <p:spPr>
          <a:xfrm>
            <a:off x="390550" y="2747563"/>
            <a:ext cx="8372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93" name="Google Shape;93;p18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s">
  <p:cSld name="ONE_COLUMN_TEXT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90550" y="1281900"/>
            <a:ext cx="35430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90550" y="2425075"/>
            <a:ext cx="35430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cxnSp>
        <p:nvCxnSpPr>
          <p:cNvPr id="98" name="Google Shape;98;p19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vestors">
  <p:cSld name="MAIN_POINT"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>
            <p:ph idx="2" type="pic"/>
          </p:nvPr>
        </p:nvSpPr>
        <p:spPr>
          <a:xfrm>
            <a:off x="4644325" y="1140011"/>
            <a:ext cx="1929900" cy="2863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3" type="pic"/>
          </p:nvPr>
        </p:nvSpPr>
        <p:spPr>
          <a:xfrm>
            <a:off x="6833350" y="1140011"/>
            <a:ext cx="1929900" cy="2863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3" name="Google Shape;103;p20"/>
          <p:cNvSpPr txBox="1"/>
          <p:nvPr>
            <p:ph type="title"/>
          </p:nvPr>
        </p:nvSpPr>
        <p:spPr>
          <a:xfrm>
            <a:off x="390550" y="1436463"/>
            <a:ext cx="35430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90550" y="2579638"/>
            <a:ext cx="3543000" cy="11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5" name="Google Shape;105;p20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ct Sheet">
  <p:cSld name="SECTION_TITLE_AND_DESCRIPTION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50644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109" name="Google Shape;109;p21"/>
          <p:cNvSpPr/>
          <p:nvPr>
            <p:ph idx="2" type="pic"/>
          </p:nvPr>
        </p:nvSpPr>
        <p:spPr>
          <a:xfrm>
            <a:off x="5898050" y="874499"/>
            <a:ext cx="2244600" cy="3330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0" name="Google Shape;110;p21"/>
          <p:cNvSpPr txBox="1"/>
          <p:nvPr>
            <p:ph type="title"/>
          </p:nvPr>
        </p:nvSpPr>
        <p:spPr>
          <a:xfrm>
            <a:off x="390550" y="421400"/>
            <a:ext cx="4109400" cy="11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390550" y="1513075"/>
            <a:ext cx="33063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9pPr>
          </a:lstStyle>
          <a:p/>
        </p:txBody>
      </p:sp>
      <p:sp>
        <p:nvSpPr>
          <p:cNvPr id="112" name="Google Shape;112;p21"/>
          <p:cNvSpPr txBox="1"/>
          <p:nvPr>
            <p:ph idx="3" type="subTitle"/>
          </p:nvPr>
        </p:nvSpPr>
        <p:spPr>
          <a:xfrm>
            <a:off x="390550" y="23668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3" name="Google Shape;113;p21"/>
          <p:cNvSpPr txBox="1"/>
          <p:nvPr>
            <p:ph idx="4" type="subTitle"/>
          </p:nvPr>
        </p:nvSpPr>
        <p:spPr>
          <a:xfrm>
            <a:off x="2595025" y="23668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5" type="body"/>
          </p:nvPr>
        </p:nvSpPr>
        <p:spPr>
          <a:xfrm>
            <a:off x="390550" y="28700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6" type="body"/>
          </p:nvPr>
        </p:nvSpPr>
        <p:spPr>
          <a:xfrm>
            <a:off x="2595025" y="28700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7" type="subTitle"/>
          </p:nvPr>
        </p:nvSpPr>
        <p:spPr>
          <a:xfrm>
            <a:off x="390550" y="36128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8" type="subTitle"/>
          </p:nvPr>
        </p:nvSpPr>
        <p:spPr>
          <a:xfrm>
            <a:off x="2595025" y="36128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9" type="body"/>
          </p:nvPr>
        </p:nvSpPr>
        <p:spPr>
          <a:xfrm>
            <a:off x="390550" y="41159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3" type="body"/>
          </p:nvPr>
        </p:nvSpPr>
        <p:spPr>
          <a:xfrm>
            <a:off x="2595025" y="41159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ssion">
  <p:cSld name="CAPTION_ONLY"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2"/>
          <p:cNvSpPr txBox="1"/>
          <p:nvPr>
            <p:ph idx="1" type="subTitle"/>
          </p:nvPr>
        </p:nvSpPr>
        <p:spPr>
          <a:xfrm>
            <a:off x="4217250" y="8737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2" type="subTitle"/>
          </p:nvPr>
        </p:nvSpPr>
        <p:spPr>
          <a:xfrm>
            <a:off x="6421725" y="8737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3" type="body"/>
          </p:nvPr>
        </p:nvSpPr>
        <p:spPr>
          <a:xfrm>
            <a:off x="4217250" y="13769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4" type="body"/>
          </p:nvPr>
        </p:nvSpPr>
        <p:spPr>
          <a:xfrm>
            <a:off x="6421725" y="13769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5" type="subTitle"/>
          </p:nvPr>
        </p:nvSpPr>
        <p:spPr>
          <a:xfrm>
            <a:off x="4217250" y="21197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6" type="subTitle"/>
          </p:nvPr>
        </p:nvSpPr>
        <p:spPr>
          <a:xfrm>
            <a:off x="6421725" y="21197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7" type="body"/>
          </p:nvPr>
        </p:nvSpPr>
        <p:spPr>
          <a:xfrm>
            <a:off x="4217250" y="26228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idx="8" type="body"/>
          </p:nvPr>
        </p:nvSpPr>
        <p:spPr>
          <a:xfrm>
            <a:off x="6421725" y="26228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2"/>
          <p:cNvSpPr txBox="1"/>
          <p:nvPr>
            <p:ph idx="9" type="subTitle"/>
          </p:nvPr>
        </p:nvSpPr>
        <p:spPr>
          <a:xfrm>
            <a:off x="4217250" y="336573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13" type="subTitle"/>
          </p:nvPr>
        </p:nvSpPr>
        <p:spPr>
          <a:xfrm>
            <a:off x="6421725" y="336573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14" type="body"/>
          </p:nvPr>
        </p:nvSpPr>
        <p:spPr>
          <a:xfrm>
            <a:off x="4217250" y="386885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5" type="body"/>
          </p:nvPr>
        </p:nvSpPr>
        <p:spPr>
          <a:xfrm>
            <a:off x="6421725" y="386885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cxnSp>
        <p:nvCxnSpPr>
          <p:cNvPr id="135" name="Google Shape;135;p22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22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story">
  <p:cSld name="BIG_NUMBER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1629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139" name="Google Shape;139;p23"/>
          <p:cNvSpPr/>
          <p:nvPr>
            <p:ph idx="2" type="pic"/>
          </p:nvPr>
        </p:nvSpPr>
        <p:spPr>
          <a:xfrm>
            <a:off x="996550" y="874499"/>
            <a:ext cx="2244600" cy="3330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23"/>
          <p:cNvSpPr txBox="1"/>
          <p:nvPr>
            <p:ph type="title"/>
          </p:nvPr>
        </p:nvSpPr>
        <p:spPr>
          <a:xfrm>
            <a:off x="4565075" y="316525"/>
            <a:ext cx="4109400" cy="11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1" type="subTitle"/>
          </p:nvPr>
        </p:nvSpPr>
        <p:spPr>
          <a:xfrm>
            <a:off x="4565075" y="1623575"/>
            <a:ext cx="4109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3" type="body"/>
          </p:nvPr>
        </p:nvSpPr>
        <p:spPr>
          <a:xfrm>
            <a:off x="4565075" y="2126675"/>
            <a:ext cx="4109400" cy="1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4" type="subTitle"/>
          </p:nvPr>
        </p:nvSpPr>
        <p:spPr>
          <a:xfrm>
            <a:off x="4565075" y="3225275"/>
            <a:ext cx="4109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5" type="body"/>
          </p:nvPr>
        </p:nvSpPr>
        <p:spPr>
          <a:xfrm>
            <a:off x="4565075" y="3728375"/>
            <a:ext cx="4109400" cy="1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 type="blank">
  <p:cSld name="BLANK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/>
          <p:nvPr>
            <p:ph idx="2" type="pic"/>
          </p:nvPr>
        </p:nvSpPr>
        <p:spPr>
          <a:xfrm>
            <a:off x="390550" y="516500"/>
            <a:ext cx="2736000" cy="45021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47" name="Google Shape;147;p24"/>
          <p:cNvSpPr/>
          <p:nvPr>
            <p:ph idx="3" type="pic"/>
          </p:nvPr>
        </p:nvSpPr>
        <p:spPr>
          <a:xfrm>
            <a:off x="3208850" y="516500"/>
            <a:ext cx="2736000" cy="21834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48" name="Google Shape;148;p24"/>
          <p:cNvSpPr/>
          <p:nvPr>
            <p:ph idx="4" type="pic"/>
          </p:nvPr>
        </p:nvSpPr>
        <p:spPr>
          <a:xfrm>
            <a:off x="3208850" y="2786900"/>
            <a:ext cx="2736000" cy="22317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49" name="Google Shape;149;p24"/>
          <p:cNvSpPr/>
          <p:nvPr>
            <p:ph idx="5" type="pic"/>
          </p:nvPr>
        </p:nvSpPr>
        <p:spPr>
          <a:xfrm>
            <a:off x="6027150" y="2174900"/>
            <a:ext cx="2736000" cy="28437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50" name="Google Shape;150;p24"/>
          <p:cNvSpPr/>
          <p:nvPr>
            <p:ph idx="6" type="pic"/>
          </p:nvPr>
        </p:nvSpPr>
        <p:spPr>
          <a:xfrm>
            <a:off x="6027150" y="516500"/>
            <a:ext cx="2736000" cy="15663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2" name="Google Shape;152;p24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4"/>
          <p:cNvSpPr txBox="1"/>
          <p:nvPr>
            <p:ph idx="7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Divider">
  <p:cSld name="TITLE_1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/>
          <p:nvPr>
            <p:ph idx="2" type="pic"/>
          </p:nvPr>
        </p:nvSpPr>
        <p:spPr>
          <a:xfrm>
            <a:off x="161800" y="148200"/>
            <a:ext cx="8830200" cy="4118700"/>
          </a:xfrm>
          <a:prstGeom prst="roundRect">
            <a:avLst>
              <a:gd fmla="val 4111" name="adj"/>
            </a:avLst>
          </a:prstGeom>
          <a:noFill/>
          <a:ln>
            <a:noFill/>
          </a:ln>
        </p:spPr>
      </p:sp>
      <p:sp>
        <p:nvSpPr>
          <p:cNvPr id="156" name="Google Shape;156;p25"/>
          <p:cNvSpPr txBox="1"/>
          <p:nvPr>
            <p:ph idx="1" type="subTitle"/>
          </p:nvPr>
        </p:nvSpPr>
        <p:spPr>
          <a:xfrm>
            <a:off x="156900" y="4448550"/>
            <a:ext cx="8830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">
  <p:cSld name="CUSTOM">
    <p:bg>
      <p:bgPr>
        <a:solidFill>
          <a:schemeClr val="lt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/>
          <p:nvPr>
            <p:ph idx="2" type="pic"/>
          </p:nvPr>
        </p:nvSpPr>
        <p:spPr>
          <a:xfrm>
            <a:off x="4572100" y="194400"/>
            <a:ext cx="4368600" cy="4754700"/>
          </a:xfrm>
          <a:prstGeom prst="roundRect">
            <a:avLst>
              <a:gd fmla="val 3533" name="adj"/>
            </a:avLst>
          </a:prstGeom>
          <a:noFill/>
          <a:ln>
            <a:noFill/>
          </a:ln>
        </p:spPr>
      </p:sp>
      <p:sp>
        <p:nvSpPr>
          <p:cNvPr id="159" name="Google Shape;159;p26"/>
          <p:cNvSpPr txBox="1"/>
          <p:nvPr>
            <p:ph idx="1" type="subTitle"/>
          </p:nvPr>
        </p:nvSpPr>
        <p:spPr>
          <a:xfrm>
            <a:off x="391925" y="2038075"/>
            <a:ext cx="3737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/>
        </p:txBody>
      </p:sp>
      <p:sp>
        <p:nvSpPr>
          <p:cNvPr id="160" name="Google Shape;160;p26"/>
          <p:cNvSpPr txBox="1"/>
          <p:nvPr>
            <p:ph idx="3" type="subTitle"/>
          </p:nvPr>
        </p:nvSpPr>
        <p:spPr>
          <a:xfrm>
            <a:off x="1272125" y="3330763"/>
            <a:ext cx="19770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s Kit">
  <p:cSld name="CUSTOM_1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/>
          <p:nvPr>
            <p:ph idx="2" type="pic"/>
          </p:nvPr>
        </p:nvSpPr>
        <p:spPr>
          <a:xfrm>
            <a:off x="236850" y="2068225"/>
            <a:ext cx="8661300" cy="2851800"/>
          </a:xfrm>
          <a:prstGeom prst="roundRect">
            <a:avLst>
              <a:gd fmla="val 7221" name="adj"/>
            </a:avLst>
          </a:prstGeom>
          <a:noFill/>
          <a:ln>
            <a:noFill/>
          </a:ln>
        </p:spPr>
      </p:sp>
      <p:sp>
        <p:nvSpPr>
          <p:cNvPr id="163" name="Google Shape;163;p27"/>
          <p:cNvSpPr txBox="1"/>
          <p:nvPr>
            <p:ph idx="1" type="subTitle"/>
          </p:nvPr>
        </p:nvSpPr>
        <p:spPr>
          <a:xfrm>
            <a:off x="390550" y="630775"/>
            <a:ext cx="2266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3" type="body"/>
          </p:nvPr>
        </p:nvSpPr>
        <p:spPr>
          <a:xfrm>
            <a:off x="390550" y="1133875"/>
            <a:ext cx="22662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4" type="subTitle"/>
          </p:nvPr>
        </p:nvSpPr>
        <p:spPr>
          <a:xfrm>
            <a:off x="3434400" y="630775"/>
            <a:ext cx="2266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5" type="body"/>
          </p:nvPr>
        </p:nvSpPr>
        <p:spPr>
          <a:xfrm>
            <a:off x="3434400" y="1133875"/>
            <a:ext cx="22662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6" type="subTitle"/>
          </p:nvPr>
        </p:nvSpPr>
        <p:spPr>
          <a:xfrm>
            <a:off x="6478250" y="630775"/>
            <a:ext cx="2266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8" name="Google Shape;168;p27"/>
          <p:cNvSpPr txBox="1"/>
          <p:nvPr>
            <p:ph idx="7" type="body"/>
          </p:nvPr>
        </p:nvSpPr>
        <p:spPr>
          <a:xfrm>
            <a:off x="6478250" y="1133875"/>
            <a:ext cx="22662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0" name="Google Shape;170;p27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7"/>
          <p:cNvSpPr txBox="1"/>
          <p:nvPr>
            <p:ph idx="8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ntact">
  <p:cSld name="CUSTOM_2"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>
            <p:ph idx="2" type="pic"/>
          </p:nvPr>
        </p:nvSpPr>
        <p:spPr>
          <a:xfrm>
            <a:off x="3753475" y="6615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4" name="Google Shape;174;p28"/>
          <p:cNvSpPr/>
          <p:nvPr>
            <p:ph idx="3" type="pic"/>
          </p:nvPr>
        </p:nvSpPr>
        <p:spPr>
          <a:xfrm>
            <a:off x="5593875" y="6615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5" name="Google Shape;175;p28"/>
          <p:cNvSpPr/>
          <p:nvPr>
            <p:ph idx="4" type="pic"/>
          </p:nvPr>
        </p:nvSpPr>
        <p:spPr>
          <a:xfrm>
            <a:off x="7434275" y="6615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5" type="pic"/>
          </p:nvPr>
        </p:nvSpPr>
        <p:spPr>
          <a:xfrm>
            <a:off x="3753475" y="28238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6" type="pic"/>
          </p:nvPr>
        </p:nvSpPr>
        <p:spPr>
          <a:xfrm>
            <a:off x="5593875" y="28238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7" type="pic"/>
          </p:nvPr>
        </p:nvSpPr>
        <p:spPr>
          <a:xfrm>
            <a:off x="7434275" y="28238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9" name="Google Shape;179;p28"/>
          <p:cNvSpPr/>
          <p:nvPr>
            <p:ph idx="8" type="pic"/>
          </p:nvPr>
        </p:nvSpPr>
        <p:spPr>
          <a:xfrm>
            <a:off x="390550" y="661550"/>
            <a:ext cx="2726400" cy="4131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80" name="Google Shape;180;p28"/>
          <p:cNvSpPr txBox="1"/>
          <p:nvPr>
            <p:ph idx="1" type="subTitle"/>
          </p:nvPr>
        </p:nvSpPr>
        <p:spPr>
          <a:xfrm>
            <a:off x="3541225" y="20286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9" type="body"/>
          </p:nvPr>
        </p:nvSpPr>
        <p:spPr>
          <a:xfrm>
            <a:off x="3541225" y="24218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3" type="subTitle"/>
          </p:nvPr>
        </p:nvSpPr>
        <p:spPr>
          <a:xfrm>
            <a:off x="5381625" y="20286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14" type="body"/>
          </p:nvPr>
        </p:nvSpPr>
        <p:spPr>
          <a:xfrm>
            <a:off x="5381625" y="24218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4" name="Google Shape;184;p28"/>
          <p:cNvSpPr txBox="1"/>
          <p:nvPr>
            <p:ph idx="15" type="subTitle"/>
          </p:nvPr>
        </p:nvSpPr>
        <p:spPr>
          <a:xfrm>
            <a:off x="7222025" y="20286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6" type="body"/>
          </p:nvPr>
        </p:nvSpPr>
        <p:spPr>
          <a:xfrm>
            <a:off x="7222025" y="24218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6" name="Google Shape;186;p28"/>
          <p:cNvSpPr txBox="1"/>
          <p:nvPr>
            <p:ph idx="17" type="subTitle"/>
          </p:nvPr>
        </p:nvSpPr>
        <p:spPr>
          <a:xfrm>
            <a:off x="3541225" y="41820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8" type="body"/>
          </p:nvPr>
        </p:nvSpPr>
        <p:spPr>
          <a:xfrm>
            <a:off x="3541225" y="45752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8" name="Google Shape;188;p28"/>
          <p:cNvSpPr txBox="1"/>
          <p:nvPr>
            <p:ph idx="19" type="subTitle"/>
          </p:nvPr>
        </p:nvSpPr>
        <p:spPr>
          <a:xfrm>
            <a:off x="5381625" y="41820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20" type="body"/>
          </p:nvPr>
        </p:nvSpPr>
        <p:spPr>
          <a:xfrm>
            <a:off x="5381625" y="45752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90" name="Google Shape;190;p28"/>
          <p:cNvSpPr txBox="1"/>
          <p:nvPr>
            <p:ph idx="21" type="subTitle"/>
          </p:nvPr>
        </p:nvSpPr>
        <p:spPr>
          <a:xfrm>
            <a:off x="7222025" y="41820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91" name="Google Shape;191;p28"/>
          <p:cNvSpPr txBox="1"/>
          <p:nvPr>
            <p:ph idx="22" type="body"/>
          </p:nvPr>
        </p:nvSpPr>
        <p:spPr>
          <a:xfrm>
            <a:off x="7222025" y="45752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92" name="Google Shape;19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3" name="Google Shape;193;p28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8"/>
          <p:cNvSpPr txBox="1"/>
          <p:nvPr>
            <p:ph idx="23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eers">
  <p:cSld name="CUSTOM_3">
    <p:bg>
      <p:bgPr>
        <a:solidFill>
          <a:schemeClr val="l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idx="1" type="subTitle"/>
          </p:nvPr>
        </p:nvSpPr>
        <p:spPr>
          <a:xfrm>
            <a:off x="689290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97" name="Google Shape;197;p29"/>
          <p:cNvSpPr txBox="1"/>
          <p:nvPr>
            <p:ph idx="2" type="body"/>
          </p:nvPr>
        </p:nvSpPr>
        <p:spPr>
          <a:xfrm>
            <a:off x="689290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29"/>
          <p:cNvSpPr txBox="1"/>
          <p:nvPr>
            <p:ph idx="3" type="subTitle"/>
          </p:nvPr>
        </p:nvSpPr>
        <p:spPr>
          <a:xfrm>
            <a:off x="474775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99" name="Google Shape;199;p29"/>
          <p:cNvSpPr txBox="1"/>
          <p:nvPr>
            <p:ph idx="4" type="body"/>
          </p:nvPr>
        </p:nvSpPr>
        <p:spPr>
          <a:xfrm>
            <a:off x="474775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29"/>
          <p:cNvSpPr/>
          <p:nvPr>
            <p:ph idx="5" type="pic"/>
          </p:nvPr>
        </p:nvSpPr>
        <p:spPr>
          <a:xfrm>
            <a:off x="457550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1" name="Google Shape;201;p29"/>
          <p:cNvSpPr/>
          <p:nvPr>
            <p:ph idx="6" type="pic"/>
          </p:nvPr>
        </p:nvSpPr>
        <p:spPr>
          <a:xfrm>
            <a:off x="2602596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2" name="Google Shape;202;p29"/>
          <p:cNvSpPr/>
          <p:nvPr>
            <p:ph idx="7" type="pic"/>
          </p:nvPr>
        </p:nvSpPr>
        <p:spPr>
          <a:xfrm>
            <a:off x="4747696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3" name="Google Shape;203;p29"/>
          <p:cNvSpPr/>
          <p:nvPr>
            <p:ph idx="8" type="pic"/>
          </p:nvPr>
        </p:nvSpPr>
        <p:spPr>
          <a:xfrm>
            <a:off x="6892796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4" name="Google Shape;204;p29"/>
          <p:cNvSpPr txBox="1"/>
          <p:nvPr>
            <p:ph idx="9" type="subTitle"/>
          </p:nvPr>
        </p:nvSpPr>
        <p:spPr>
          <a:xfrm>
            <a:off x="45745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05" name="Google Shape;205;p29"/>
          <p:cNvSpPr txBox="1"/>
          <p:nvPr>
            <p:ph idx="13" type="body"/>
          </p:nvPr>
        </p:nvSpPr>
        <p:spPr>
          <a:xfrm>
            <a:off x="45745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29"/>
          <p:cNvSpPr txBox="1"/>
          <p:nvPr>
            <p:ph idx="14" type="subTitle"/>
          </p:nvPr>
        </p:nvSpPr>
        <p:spPr>
          <a:xfrm>
            <a:off x="260260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07" name="Google Shape;207;p29"/>
          <p:cNvSpPr txBox="1"/>
          <p:nvPr>
            <p:ph idx="15" type="body"/>
          </p:nvPr>
        </p:nvSpPr>
        <p:spPr>
          <a:xfrm>
            <a:off x="260260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9" name="Google Shape;209;p29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ognition">
  <p:cSld name="CUSTOM_4">
    <p:bg>
      <p:bgPr>
        <a:solidFill>
          <a:schemeClr val="lt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0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7" name="Google Shape;227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241" name="Google Shape;241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  <p:sp>
        <p:nvSpPr>
          <p:cNvPr id="247" name="Google Shape;24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1" name="Google Shape;25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4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4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4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1" name="Google Shape;261;p4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4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6" name="Google Shape;266;p4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1" name="Google Shape;271;p4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2" name="Google Shape;272;p4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4" name="Google Shape;274;p4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4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8" name="Google Shape;278;p4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9" name="Google Shape;279;p4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0" name="Google Shape;28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1" name="Google Shape;281;p4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4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4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7" name="Google Shape;287;p4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9" name="Google Shape;289;p4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0" name="Google Shape;290;p4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1" name="Google Shape;291;p4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4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4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4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4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" name="Google Shape;301;p4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4" name="Google Shape;30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4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7" name="Google Shape;307;p4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0" name="Google Shape;310;p4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3" name="Google Shape;313;p4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4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5" name="Google Shape;31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4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4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5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5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5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5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5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5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95300" y="469900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784600" y="469900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cial networking on an usual business day." id="339" name="Google Shape;339;p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5302" l="0" r="0" t="25297"/>
          <a:stretch/>
        </p:blipFill>
        <p:spPr>
          <a:xfrm>
            <a:off x="236850" y="2068225"/>
            <a:ext cx="8661300" cy="2851800"/>
          </a:xfrm>
          <a:prstGeom prst="roundRect">
            <a:avLst>
              <a:gd fmla="val 16667" name="adj"/>
            </a:avLst>
          </a:prstGeom>
        </p:spPr>
      </p:pic>
      <p:sp>
        <p:nvSpPr>
          <p:cNvPr id="340" name="Google Shape;340;p52"/>
          <p:cNvSpPr txBox="1"/>
          <p:nvPr>
            <p:ph type="title"/>
          </p:nvPr>
        </p:nvSpPr>
        <p:spPr>
          <a:xfrm>
            <a:off x="390550" y="513788"/>
            <a:ext cx="8372700" cy="9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Trend</a:t>
            </a:r>
            <a:endParaRPr/>
          </a:p>
        </p:txBody>
      </p:sp>
      <p:sp>
        <p:nvSpPr>
          <p:cNvPr id="341" name="Google Shape;341;p52"/>
          <p:cNvSpPr txBox="1"/>
          <p:nvPr>
            <p:ph idx="1" type="subTitle"/>
          </p:nvPr>
        </p:nvSpPr>
        <p:spPr>
          <a:xfrm>
            <a:off x="390550" y="1430263"/>
            <a:ext cx="8372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IBM Plex Serif Medium"/>
                <a:ea typeface="IBM Plex Serif Medium"/>
                <a:cs typeface="IBM Plex Serif Medium"/>
                <a:sym typeface="IBM Plex Serif Medium"/>
              </a:rPr>
              <a:t> 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Alexander Gutting, Jaime Espinola, Tsvetelina Hristova, Sinduja Manchi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August 12th, 2025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 Medium"/>
              <a:ea typeface="IBM Plex Serif Medium"/>
              <a:cs typeface="IBM Plex Serif Medium"/>
              <a:sym typeface="IBM Plex Serif Medium"/>
            </a:endParaRPr>
          </a:p>
        </p:txBody>
      </p:sp>
      <p:sp>
        <p:nvSpPr>
          <p:cNvPr id="342" name="Google Shape;342;p52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52"/>
          <p:cNvSpPr txBox="1"/>
          <p:nvPr/>
        </p:nvSpPr>
        <p:spPr>
          <a:xfrm>
            <a:off x="6424575" y="40226"/>
            <a:ext cx="240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4" name="Google Shape;344;p52"/>
          <p:cNvSpPr txBox="1"/>
          <p:nvPr/>
        </p:nvSpPr>
        <p:spPr>
          <a:xfrm>
            <a:off x="2589100" y="67675"/>
            <a:ext cx="397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Northeastern University - CS5100 Summer 2025</a:t>
            </a:r>
            <a:endParaRPr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3"/>
          <p:cNvSpPr txBox="1"/>
          <p:nvPr>
            <p:ph type="title"/>
          </p:nvPr>
        </p:nvSpPr>
        <p:spPr>
          <a:xfrm>
            <a:off x="385650" y="575525"/>
            <a:ext cx="42861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50" name="Google Shape;350;p53"/>
          <p:cNvSpPr txBox="1"/>
          <p:nvPr>
            <p:ph idx="1" type="subTitle"/>
          </p:nvPr>
        </p:nvSpPr>
        <p:spPr>
          <a:xfrm>
            <a:off x="597000" y="1491875"/>
            <a:ext cx="249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</a:t>
            </a:r>
            <a:r>
              <a:rPr lang="en"/>
              <a:t>Statement</a:t>
            </a:r>
            <a:endParaRPr/>
          </a:p>
        </p:txBody>
      </p:sp>
      <p:sp>
        <p:nvSpPr>
          <p:cNvPr id="351" name="Google Shape;351;p53"/>
          <p:cNvSpPr txBox="1"/>
          <p:nvPr>
            <p:ph idx="2" type="subTitle"/>
          </p:nvPr>
        </p:nvSpPr>
        <p:spPr>
          <a:xfrm>
            <a:off x="597000" y="3167625"/>
            <a:ext cx="23526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and Goals</a:t>
            </a:r>
            <a:endParaRPr/>
          </a:p>
        </p:txBody>
      </p:sp>
      <p:sp>
        <p:nvSpPr>
          <p:cNvPr id="352" name="Google Shape;352;p53"/>
          <p:cNvSpPr txBox="1"/>
          <p:nvPr>
            <p:ph idx="5" type="body"/>
          </p:nvPr>
        </p:nvSpPr>
        <p:spPr>
          <a:xfrm>
            <a:off x="597000" y="1985375"/>
            <a:ext cx="39822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Develop a model to predict stock market trends using historical stock prices and related data, aiming to identify patterns that can guide investment decisions for companies that follow the S&amp;P 500 index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3"/>
          <p:cNvSpPr txBox="1"/>
          <p:nvPr>
            <p:ph idx="6" type="body"/>
          </p:nvPr>
        </p:nvSpPr>
        <p:spPr>
          <a:xfrm>
            <a:off x="597000" y="3538650"/>
            <a:ext cx="38820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Build a regression model to predict future prices of select S&amp;P 500 stocks</a:t>
            </a:r>
            <a:endParaRPr/>
          </a:p>
        </p:txBody>
      </p:sp>
      <p:sp>
        <p:nvSpPr>
          <p:cNvPr id="354" name="Google Shape;354;p53"/>
          <p:cNvSpPr txBox="1"/>
          <p:nvPr>
            <p:ph idx="9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53"/>
          <p:cNvSpPr txBox="1"/>
          <p:nvPr/>
        </p:nvSpPr>
        <p:spPr>
          <a:xfrm>
            <a:off x="2831100" y="40200"/>
            <a:ext cx="3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Northeastern University - CS5100 Summer 2025</a:t>
            </a:r>
            <a:endParaRPr sz="1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6" name="Google Shape;356;p53"/>
          <p:cNvSpPr txBox="1"/>
          <p:nvPr/>
        </p:nvSpPr>
        <p:spPr>
          <a:xfrm>
            <a:off x="4771600" y="594150"/>
            <a:ext cx="3982200" cy="436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pic>
        <p:nvPicPr>
          <p:cNvPr id="357" name="Google Shape;357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7524" r="27529" t="0"/>
          <a:stretch/>
        </p:blipFill>
        <p:spPr>
          <a:xfrm>
            <a:off x="5348800" y="931650"/>
            <a:ext cx="2827800" cy="369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4"/>
          <p:cNvSpPr txBox="1"/>
          <p:nvPr>
            <p:ph type="title"/>
          </p:nvPr>
        </p:nvSpPr>
        <p:spPr>
          <a:xfrm>
            <a:off x="390550" y="575525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Thought Process</a:t>
            </a:r>
            <a:endParaRPr/>
          </a:p>
        </p:txBody>
      </p:sp>
      <p:sp>
        <p:nvSpPr>
          <p:cNvPr id="363" name="Google Shape;363;p54"/>
          <p:cNvSpPr txBox="1"/>
          <p:nvPr>
            <p:ph idx="6" type="subTitle"/>
          </p:nvPr>
        </p:nvSpPr>
        <p:spPr>
          <a:xfrm>
            <a:off x="2799250" y="1402775"/>
            <a:ext cx="3555300" cy="31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Data preprocessing (cleaning, encoding)</a:t>
            </a:r>
            <a:br>
              <a:rPr lang="en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Linear Regression</a:t>
            </a:r>
            <a:br>
              <a:rPr lang="en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Evaluation metrics: MSE, MAE, R²</a:t>
            </a:r>
            <a:br>
              <a:rPr lang="en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Visualizations: scatter plot, residuals, distribution plot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4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54"/>
          <p:cNvSpPr txBox="1"/>
          <p:nvPr/>
        </p:nvSpPr>
        <p:spPr>
          <a:xfrm>
            <a:off x="2942100" y="40225"/>
            <a:ext cx="325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Northeastern University - CS5100 Summer 2025</a:t>
            </a:r>
            <a:endParaRPr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5"/>
          <p:cNvSpPr txBox="1"/>
          <p:nvPr>
            <p:ph type="title"/>
          </p:nvPr>
        </p:nvSpPr>
        <p:spPr>
          <a:xfrm>
            <a:off x="390550" y="1423200"/>
            <a:ext cx="37554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Info</a:t>
            </a:r>
            <a:endParaRPr/>
          </a:p>
        </p:txBody>
      </p:sp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266375" y="2290375"/>
            <a:ext cx="5115300" cy="22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S&amp;P 500 Stock Data dataset from Kaggle: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 5 year daily stock prices for all companies following the S&amp;P 500 Index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FileName: 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all_stocks_5yr.csv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Columns: Date, Open, High, Low, Close, Volume, Name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Size:  7 Columns, 619040 rows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5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55"/>
          <p:cNvSpPr txBox="1"/>
          <p:nvPr/>
        </p:nvSpPr>
        <p:spPr>
          <a:xfrm>
            <a:off x="2942100" y="0"/>
            <a:ext cx="325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rPr>
              <a:t>Northeastern University - CS5100 Summer 2025</a:t>
            </a:r>
            <a:endParaRPr sz="1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a computer is surrounded by social media icons (Provided by Tenor)" id="374" name="Google Shape;37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33825"/>
            <a:ext cx="4445783" cy="4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type="title"/>
          </p:nvPr>
        </p:nvSpPr>
        <p:spPr>
          <a:xfrm>
            <a:off x="462600" y="-89675"/>
            <a:ext cx="4109400" cy="11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Summary</a:t>
            </a:r>
            <a:endParaRPr/>
          </a:p>
        </p:txBody>
      </p:sp>
      <p:pic>
        <p:nvPicPr>
          <p:cNvPr descr="an old siemens computer with a keyboard (Provided by Tenor)" id="380" name="Google Shape;38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4450" y="1178136"/>
            <a:ext cx="2970074" cy="28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6"/>
          <p:cNvSpPr txBox="1"/>
          <p:nvPr/>
        </p:nvSpPr>
        <p:spPr>
          <a:xfrm>
            <a:off x="12750" y="910750"/>
            <a:ext cx="50091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Dataset</a:t>
            </a:r>
            <a:r>
              <a:rPr lang="en" sz="1300"/>
              <a:t>: Downloads and loads 5-year S&amp;P 500 stock data.</a:t>
            </a:r>
            <a:br>
              <a:rPr lang="en" sz="1300"/>
            </a:b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Libraries Used</a:t>
            </a:r>
            <a:r>
              <a:rPr lang="en" sz="1300"/>
              <a:t>: </a:t>
            </a:r>
            <a:r>
              <a:rPr lang="en" sz="1300">
                <a:solidFill>
                  <a:schemeClr val="dk1"/>
                </a:solidFill>
              </a:rPr>
              <a:t>pandas, numpy, scikit-learn, matplotlib, seaborn.</a:t>
            </a:r>
            <a:br>
              <a:rPr lang="en" sz="1300"/>
            </a:b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Preprocessing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Extract and E</a:t>
            </a:r>
            <a:r>
              <a:rPr lang="en" sz="1300"/>
              <a:t>xplores CSV data 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Encodes categorical variables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Modeling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Splits data into training and test sets.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Uses </a:t>
            </a:r>
            <a:r>
              <a:rPr b="1" lang="en" sz="1300"/>
              <a:t>Linear Regression</a:t>
            </a:r>
            <a:r>
              <a:rPr lang="en" sz="1300"/>
              <a:t> to predict stock prices.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Evaluation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Measures accuracy with </a:t>
            </a:r>
            <a:r>
              <a:rPr b="1" lang="en" sz="1300"/>
              <a:t>Mean Squared Error</a:t>
            </a:r>
            <a:r>
              <a:rPr lang="en" sz="1300"/>
              <a:t>, </a:t>
            </a:r>
            <a:r>
              <a:rPr b="1" lang="en" sz="1300"/>
              <a:t>MAE</a:t>
            </a:r>
            <a:r>
              <a:rPr lang="en" sz="1300"/>
              <a:t>, and </a:t>
            </a:r>
            <a:r>
              <a:rPr b="1" lang="en" sz="1300"/>
              <a:t>R² Score</a:t>
            </a:r>
            <a:r>
              <a:rPr lang="en" sz="1300"/>
              <a:t>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Visualization</a:t>
            </a:r>
            <a:r>
              <a:rPr lang="en" sz="1300"/>
              <a:t>: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Plots actual vs predicted prices for analysis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7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57"/>
          <p:cNvSpPr txBox="1"/>
          <p:nvPr/>
        </p:nvSpPr>
        <p:spPr>
          <a:xfrm>
            <a:off x="2942100" y="40225"/>
            <a:ext cx="325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Northeastern University - CS5100 Summer 2025</a:t>
            </a:r>
            <a:endParaRPr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8" name="Google Shape;388;p57"/>
          <p:cNvSpPr txBox="1"/>
          <p:nvPr>
            <p:ph type="title"/>
          </p:nvPr>
        </p:nvSpPr>
        <p:spPr>
          <a:xfrm>
            <a:off x="527925" y="431200"/>
            <a:ext cx="4109400" cy="11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389" name="Google Shape;389;p57"/>
          <p:cNvSpPr txBox="1"/>
          <p:nvPr>
            <p:ph idx="4294967295" type="body"/>
          </p:nvPr>
        </p:nvSpPr>
        <p:spPr>
          <a:xfrm>
            <a:off x="1304950" y="1435400"/>
            <a:ext cx="4109400" cy="3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Achievements: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Successful stock prediction using linear regression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Strong evaluation metrics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 comparison of predictions vs actual data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Lessons Learned: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preprocessing is crucial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Linear regression is simple but limited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8"/>
          <p:cNvSpPr txBox="1"/>
          <p:nvPr>
            <p:ph type="title"/>
          </p:nvPr>
        </p:nvSpPr>
        <p:spPr>
          <a:xfrm>
            <a:off x="385650" y="2087700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Questions?</a:t>
            </a:r>
            <a:endParaRPr sz="2900"/>
          </a:p>
        </p:txBody>
      </p:sp>
      <p:sp>
        <p:nvSpPr>
          <p:cNvPr id="395" name="Google Shape;395;p58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8"/>
          <p:cNvSpPr txBox="1"/>
          <p:nvPr/>
        </p:nvSpPr>
        <p:spPr>
          <a:xfrm>
            <a:off x="2897850" y="40225"/>
            <a:ext cx="334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Northeastern University - CS5100 Summer 2025</a:t>
            </a:r>
            <a:endParaRPr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mpany Overview Presentation">
  <a:themeElements>
    <a:clrScheme name="Simple Light">
      <a:dk1>
        <a:srgbClr val="121212"/>
      </a:dk1>
      <a:lt1>
        <a:srgbClr val="FDF9E9"/>
      </a:lt1>
      <a:dk2>
        <a:srgbClr val="8C63A0"/>
      </a:dk2>
      <a:lt2>
        <a:srgbClr val="AA601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2121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